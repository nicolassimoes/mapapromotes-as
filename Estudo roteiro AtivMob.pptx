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3" r:id="rId3"/>
    <p:sldId id="284" r:id="rId4"/>
    <p:sldId id="279" r:id="rId5"/>
    <p:sldId id="281" r:id="rId6"/>
    <p:sldId id="282" r:id="rId7"/>
    <p:sldId id="285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A6343-EC00-F5CE-217E-017582161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96BBC3-3648-3F9F-23D1-219E64D46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48744A-C1CE-CB58-C7BE-415305D6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D1AC5B-54A3-0488-4DF1-34620663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4CE72B-CCC4-9414-C289-D3597B50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08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82EBA-7444-3921-10DB-4C5E6F74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5C8DB1-4989-BD49-78C4-B6C89B663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976AB0-BDAE-3461-2F0A-18547FA49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9AE8F4-A95F-8627-F8F4-2F512A41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BF5044-A21C-4A89-D1C2-417C36612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43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8BD3B-B1D4-9F65-0C87-0A826E7FE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A3AC9E-905F-80BE-8814-0ACDD90D9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062C5A-942E-E6D6-14FB-38D270C9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71744-124F-0A77-8EB9-3687C6F8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3CE864-37EF-3BB3-C467-ABB6FFD7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45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F0ADB-55AA-33AA-B265-4DB4037C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42B14D-BBAF-7F72-4813-F97265100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5FB9CD-A095-BC10-D2C0-B4904DCE9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12B939-F7B3-BCEC-264D-71F0A7FE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DAF4C4-5BFF-C018-5903-A1625EA6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341FC0-1EEE-850F-8218-F44E10A1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02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264F5-2C74-2E1F-2E73-0A569B2E6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2DF454-77E9-BE72-1F4C-A2913D77F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0A79A5-EBA3-3059-5405-E8ECF4A1C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E33086-F0BC-5181-6994-B3E69CCA8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159430-53ED-9C1F-FD9E-84315CB061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55ED11-561C-0816-4EF3-BEE27FE5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3816E7C-C0BD-517C-62BA-B46893DC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42AA073-2798-69D0-23E0-E1AFEF9B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33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BE8D4-3690-E861-48A0-89A273D34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1EF34E-7959-1D02-50E0-8281F190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2AF25B1-618F-F8F4-47A7-AAEC56934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31D43C-27E0-84AF-6347-9A125241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7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5B2FEC-CFC0-AD89-C721-490C7AD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742D14F-A733-223F-A3DE-B0E755167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C4DE67-2C9F-88ED-3C24-61911C21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898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A3825-94D2-FCB2-321A-499B854F6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E78ECA-C6A2-9BA3-8683-5BB0694A6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9A6F39-A1D0-DCA6-9E11-949720EC8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824D13-079F-520A-F378-AA99A0595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EE1312-2BCA-45A1-6C72-544DA851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E38F85-511F-BBA6-1B71-F6DFA5287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19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C6A88-1DE9-DBB9-0601-F3D56BE7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773BFD2-2895-B9FB-363D-CDFFEF27F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BC089E-8B1F-AFBC-403C-2CBEE56F3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8201F0-305C-1572-236B-E1925BA5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101FA2-0D7D-058A-B3BC-19D35105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C425BE-A503-35E2-26EA-82ACE1307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96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5BE57-720B-A100-7A3F-1527E0C2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CDD145-08CD-0FAB-8EBC-199A1981B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971AA2-94BC-5C3B-1CEC-84924B7A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34C0AB-9D7D-BD2D-A17F-0C18DC3B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E2A63B-19B1-CAC5-7334-1E185BC9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61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4CC72D-2AF9-AE94-D7DC-9D21376E9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A11147-E60A-979A-F900-FEEF0D2FB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C94CF-88C4-BFFD-C428-173F489A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FBF64D-0C56-06A1-CA53-A78DAE1E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8197E2-55A4-20F4-E145-F8A91C55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24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3BCE2F-C035-0474-AB63-9E5DEAC8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4ABCBC-CD00-95C3-8127-8A29E6974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6C6DE9-058D-15E2-57FC-8EF84690C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B2C77-BB0F-4875-9564-230EC276519E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40E23C-B2C8-011C-1755-95F9CC171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B06951-BF01-BA2D-1CAA-83B19B87E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E71BF-1A26-4AC7-89C8-5979FDB84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4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7E285C9-A223-42FF-BF99-0C4D02836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" y="11177"/>
            <a:ext cx="12190537" cy="6864579"/>
          </a:xfrm>
          <a:prstGeom prst="rect">
            <a:avLst/>
          </a:prstGeom>
        </p:spPr>
      </p:pic>
      <p:sp>
        <p:nvSpPr>
          <p:cNvPr id="6" name="Google Shape;185;p30">
            <a:extLst>
              <a:ext uri="{FF2B5EF4-FFF2-40B4-BE49-F238E27FC236}">
                <a16:creationId xmlns:a16="http://schemas.microsoft.com/office/drawing/2014/main" id="{8C2A97A3-CED7-4759-BB9B-CCC8FB6BF0A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67803" y="1695635"/>
            <a:ext cx="9765564" cy="41236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4000" b="1" dirty="0">
                <a:solidFill>
                  <a:srgbClr val="005DAA"/>
                </a:solidFill>
                <a:latin typeface="Montserrat" panose="00000500000000000000" pitchFamily="50" charset="0"/>
              </a:rPr>
              <a:t>Estudo roteiro AtivMob </a:t>
            </a:r>
            <a:br>
              <a:rPr lang="pt-BR" sz="4000" b="1" dirty="0">
                <a:solidFill>
                  <a:srgbClr val="005DAA"/>
                </a:solidFill>
                <a:latin typeface="Montserrat" panose="00000500000000000000" pitchFamily="50" charset="0"/>
              </a:rPr>
            </a:br>
            <a:r>
              <a:rPr lang="pt-BR" sz="4000" b="1" dirty="0">
                <a:solidFill>
                  <a:srgbClr val="005DAA"/>
                </a:solidFill>
                <a:latin typeface="Montserrat" panose="00000500000000000000" pitchFamily="50" charset="0"/>
              </a:rPr>
              <a:t>Auto Serviço</a:t>
            </a:r>
            <a:br>
              <a:rPr lang="pt-BR" sz="4000" b="1" dirty="0">
                <a:solidFill>
                  <a:srgbClr val="005DAA"/>
                </a:solidFill>
                <a:latin typeface="Montserrat" panose="00000500000000000000" pitchFamily="50" charset="0"/>
              </a:rPr>
            </a:br>
            <a:br>
              <a:rPr lang="pt-BR" sz="4000" b="1" dirty="0">
                <a:solidFill>
                  <a:srgbClr val="005DAA"/>
                </a:solidFill>
                <a:latin typeface="Montserrat" panose="00000500000000000000" pitchFamily="50" charset="0"/>
              </a:rPr>
            </a:br>
            <a:endParaRPr lang="pt-BR" sz="6600" b="1" dirty="0">
              <a:solidFill>
                <a:srgbClr val="005DAA"/>
              </a:solidFill>
              <a:latin typeface="Montserrat" panose="00000500000000000000" pitchFamily="50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41E0271-21E2-DEDF-E618-9E2246591F2D}"/>
              </a:ext>
            </a:extLst>
          </p:cNvPr>
          <p:cNvSpPr txBox="1"/>
          <p:nvPr/>
        </p:nvSpPr>
        <p:spPr>
          <a:xfrm>
            <a:off x="8123068" y="4767309"/>
            <a:ext cx="22793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Reduzir visita no lagoa</a:t>
            </a:r>
          </a:p>
          <a:p>
            <a:r>
              <a:rPr lang="pt-BR" dirty="0"/>
              <a:t>GPA</a:t>
            </a:r>
          </a:p>
          <a:p>
            <a:r>
              <a:rPr lang="pt-BR" dirty="0"/>
              <a:t>Pinheiro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049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AF903-AD12-3558-BB00-23AE774A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018A579-590F-D06F-8B22-D0C59321E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611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7DC1FF-681A-03ED-6C60-F9C2F294620C}"/>
              </a:ext>
            </a:extLst>
          </p:cNvPr>
          <p:cNvSpPr txBox="1"/>
          <p:nvPr/>
        </p:nvSpPr>
        <p:spPr>
          <a:xfrm>
            <a:off x="170525" y="598011"/>
            <a:ext cx="4352278" cy="77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b="1" i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Clientes onde o mix de produtos esta acima de 30 (todos os promotores)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437D17A-90AD-898F-0F9F-4D0BCF01B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7" y="1384917"/>
            <a:ext cx="4634996" cy="438732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D45D892-C62F-E89A-B521-C6DAB6921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779" y="1476873"/>
            <a:ext cx="7088494" cy="84907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646102-A027-640B-438E-FE9C125135EC}"/>
              </a:ext>
            </a:extLst>
          </p:cNvPr>
          <p:cNvSpPr txBox="1"/>
          <p:nvPr/>
        </p:nvSpPr>
        <p:spPr>
          <a:xfrm>
            <a:off x="5599222" y="614207"/>
            <a:ext cx="5346945" cy="77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b="1" i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Clientes onde o mix de produtos está  abaixo de 30 e estão com 3 visitas (5 promotores ) (5 lojas)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F53D353-9623-DF58-A047-61C9B757D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700" y="3271836"/>
            <a:ext cx="6848161" cy="237436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4CE83FA-06C9-CE5A-53B3-BD8747E8FF50}"/>
              </a:ext>
            </a:extLst>
          </p:cNvPr>
          <p:cNvSpPr txBox="1"/>
          <p:nvPr/>
        </p:nvSpPr>
        <p:spPr>
          <a:xfrm>
            <a:off x="6390443" y="2409170"/>
            <a:ext cx="5519418" cy="77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b="1" i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Clientes onde o mix de produtos está  abaixo de 30 e estão com 2 visitas( 13 promotores) (18 lojas)</a:t>
            </a:r>
          </a:p>
        </p:txBody>
      </p:sp>
      <p:sp>
        <p:nvSpPr>
          <p:cNvPr id="15" name="Google Shape;185;p30">
            <a:extLst>
              <a:ext uri="{FF2B5EF4-FFF2-40B4-BE49-F238E27FC236}">
                <a16:creationId xmlns:a16="http://schemas.microsoft.com/office/drawing/2014/main" id="{BDB64BF8-6C57-D30C-E14C-FF9555006AE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817" y="0"/>
            <a:ext cx="6979640" cy="590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spc="600" dirty="0">
                <a:solidFill>
                  <a:srgbClr val="005DAA"/>
                </a:solidFill>
                <a:latin typeface="Montserrat" panose="00000500000000000000" pitchFamily="50" charset="0"/>
                <a:ea typeface="+mn-ea"/>
                <a:cs typeface="+mn-cs"/>
              </a:rPr>
              <a:t>Observações</a:t>
            </a:r>
          </a:p>
        </p:txBody>
      </p:sp>
    </p:spTree>
    <p:extLst>
      <p:ext uri="{BB962C8B-B14F-4D97-AF65-F5344CB8AC3E}">
        <p14:creationId xmlns:p14="http://schemas.microsoft.com/office/powerpoint/2010/main" val="3796052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986F-E261-1767-4398-188E36C5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60BF824-7B33-B36E-2D8B-B6F6AC080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611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15B0113-6344-99A0-EB0C-C2FDD7588984}"/>
              </a:ext>
            </a:extLst>
          </p:cNvPr>
          <p:cNvSpPr txBox="1"/>
          <p:nvPr/>
        </p:nvSpPr>
        <p:spPr>
          <a:xfrm>
            <a:off x="3916900" y="1086283"/>
            <a:ext cx="6784163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b="1" i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Clientes com o mix de produtos menor que 10 (27 lojas)</a:t>
            </a:r>
          </a:p>
        </p:txBody>
      </p:sp>
      <p:sp>
        <p:nvSpPr>
          <p:cNvPr id="15" name="Google Shape;185;p30">
            <a:extLst>
              <a:ext uri="{FF2B5EF4-FFF2-40B4-BE49-F238E27FC236}">
                <a16:creationId xmlns:a16="http://schemas.microsoft.com/office/drawing/2014/main" id="{B9121D2D-662B-8824-0A89-06E2A634923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817" y="0"/>
            <a:ext cx="6979640" cy="590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spc="600" dirty="0">
                <a:solidFill>
                  <a:srgbClr val="005DAA"/>
                </a:solidFill>
                <a:latin typeface="Montserrat" panose="00000500000000000000" pitchFamily="50" charset="0"/>
                <a:ea typeface="+mn-ea"/>
                <a:cs typeface="+mn-cs"/>
              </a:rPr>
              <a:t>Observações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4A37F1-A634-5D5E-24B4-774AFACAD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812" y="1610290"/>
            <a:ext cx="8536705" cy="435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2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7547-A0F8-74F9-DB9F-A51CB66D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D49EF20-DE04-47C1-FED7-2B87CDCE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88"/>
            <a:ext cx="12192000" cy="6826112"/>
          </a:xfrm>
          <a:prstGeom prst="rect">
            <a:avLst/>
          </a:prstGeom>
        </p:spPr>
      </p:pic>
      <p:sp>
        <p:nvSpPr>
          <p:cNvPr id="3" name="Google Shape;185;p30">
            <a:extLst>
              <a:ext uri="{FF2B5EF4-FFF2-40B4-BE49-F238E27FC236}">
                <a16:creationId xmlns:a16="http://schemas.microsoft.com/office/drawing/2014/main" id="{0F827C72-A095-0C55-23BB-B49CE80BBE9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9056" y="164757"/>
            <a:ext cx="10792723" cy="590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spc="600" dirty="0">
                <a:solidFill>
                  <a:srgbClr val="005DAA"/>
                </a:solidFill>
                <a:latin typeface="Montserrat" panose="00000500000000000000" pitchFamily="50" charset="0"/>
                <a:ea typeface="+mn-ea"/>
                <a:cs typeface="+mn-cs"/>
              </a:rPr>
              <a:t>Cenário 1- Retirando 1  promotor ou refazendo o roteiro por completo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8FFDA2-5AB6-0B0E-2A7F-08597AAA0DBF}"/>
              </a:ext>
            </a:extLst>
          </p:cNvPr>
          <p:cNvSpPr txBox="1"/>
          <p:nvPr/>
        </p:nvSpPr>
        <p:spPr>
          <a:xfrm>
            <a:off x="1174594" y="888176"/>
            <a:ext cx="9842811" cy="637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2800" b="1" i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Há duas possibilidades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dirty="0"/>
              <a:t>1 - Redistribuição sem considerar a localização geográfica:</a:t>
            </a:r>
            <a:br>
              <a:rPr lang="pt-BR" b="1" dirty="0"/>
            </a:br>
            <a:r>
              <a:rPr lang="pt-BR" dirty="0"/>
              <a:t>As lojas seriam alocadas para os promotores com menor carga atual, resultando em uma média de seis lojas por roteiro. No entanto, essa abordagem desconsidera a viabilidade geográfica, o que comprometeria a eficiência das visitas.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pt-BR" dirty="0"/>
              <a:t>Ou</a:t>
            </a:r>
          </a:p>
          <a:p>
            <a:r>
              <a:rPr lang="pt-BR" b="1" dirty="0"/>
              <a:t>2 - Reestruturação completa dos roteiros com base em critérios operacionais</a:t>
            </a:r>
          </a:p>
          <a:p>
            <a:br>
              <a:rPr lang="pt-BR" dirty="0"/>
            </a:br>
            <a:r>
              <a:rPr lang="pt-BR" dirty="0"/>
              <a:t>Nesse cenário, seria necessário refazer todos os roteiros levando em conta:</a:t>
            </a:r>
          </a:p>
          <a:p>
            <a:r>
              <a:rPr lang="pt-BR" dirty="0"/>
              <a:t>A </a:t>
            </a:r>
            <a:r>
              <a:rPr lang="pt-BR" b="1" dirty="0"/>
              <a:t>distribuição geográfica</a:t>
            </a:r>
            <a:r>
              <a:rPr lang="pt-BR" dirty="0"/>
              <a:t> das lojas;</a:t>
            </a:r>
          </a:p>
          <a:p>
            <a:r>
              <a:rPr lang="pt-BR" dirty="0"/>
              <a:t>A </a:t>
            </a:r>
            <a:r>
              <a:rPr lang="pt-BR" b="1" dirty="0"/>
              <a:t>frequência de visitas</a:t>
            </a:r>
            <a:r>
              <a:rPr lang="pt-BR" dirty="0"/>
              <a:t>, de acordo com o mix de produtos e demanda de cada ponto de venda;</a:t>
            </a:r>
          </a:p>
          <a:p>
            <a:r>
              <a:rPr lang="pt-BR" b="1" dirty="0"/>
              <a:t>Particularidades das lojas</a:t>
            </a:r>
            <a:r>
              <a:rPr lang="pt-BR" dirty="0"/>
              <a:t>, como a necessidade do promotor permanecer um turno completo;</a:t>
            </a:r>
          </a:p>
          <a:p>
            <a:r>
              <a:rPr lang="pt-BR" dirty="0"/>
              <a:t>A </a:t>
            </a:r>
            <a:r>
              <a:rPr lang="pt-BR" b="1" dirty="0"/>
              <a:t>não combinação de canais distintos</a:t>
            </a:r>
            <a:r>
              <a:rPr lang="pt-BR" dirty="0"/>
              <a:t>, como misturar Varejo Tradicional com Autosserviço, o que é operacionalmente inviável.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pt-BR" sz="2000" b="1" i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pt-BR" sz="2000" b="1" i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endParaRPr lang="pt-BR" sz="2000" b="1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461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B2634-4497-8304-DCD5-FEA4441C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C0B68BF-ACC4-A7F7-3EA6-D18322D10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35" y="0"/>
            <a:ext cx="12192000" cy="6826112"/>
          </a:xfrm>
          <a:prstGeom prst="rect">
            <a:avLst/>
          </a:prstGeom>
        </p:spPr>
      </p:pic>
      <p:sp>
        <p:nvSpPr>
          <p:cNvPr id="3" name="Google Shape;185;p30">
            <a:extLst>
              <a:ext uri="{FF2B5EF4-FFF2-40B4-BE49-F238E27FC236}">
                <a16:creationId xmlns:a16="http://schemas.microsoft.com/office/drawing/2014/main" id="{FEA14F5A-29B6-D6A3-871D-9D8237E2BE3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9057" y="164757"/>
            <a:ext cx="6979640" cy="590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spc="600" dirty="0">
                <a:solidFill>
                  <a:srgbClr val="005DAA"/>
                </a:solidFill>
                <a:latin typeface="Montserrat" panose="00000500000000000000" pitchFamily="50" charset="0"/>
                <a:ea typeface="+mn-ea"/>
                <a:cs typeface="+mn-cs"/>
              </a:rPr>
              <a:t>Cenário 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916137-4604-E884-7917-687621229DBA}"/>
              </a:ext>
            </a:extLst>
          </p:cNvPr>
          <p:cNvSpPr txBox="1"/>
          <p:nvPr/>
        </p:nvSpPr>
        <p:spPr>
          <a:xfrm>
            <a:off x="50242" y="789828"/>
            <a:ext cx="10518670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b="1" dirty="0"/>
              <a:t>Com a retirada de um promotor, a redistribuição das lojas foi realizada considerando a proximidade geográfica e o equilíbrio da carga de trabalho entre os roteiros. Nesse cenário, Bruno Alves passaria a atender 8 clientes e Laryssa Kelvin, 7 clientes, levando em conta também o tempo de empresa de ambos.</a:t>
            </a:r>
            <a:endParaRPr lang="pt-BR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14BFB4-B413-1611-34CA-7FE4F803C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2" y="1994896"/>
            <a:ext cx="5204535" cy="324181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320AAE5-C7CB-7BB6-D1F8-53AD63FC31C0}"/>
              </a:ext>
            </a:extLst>
          </p:cNvPr>
          <p:cNvSpPr txBox="1"/>
          <p:nvPr/>
        </p:nvSpPr>
        <p:spPr>
          <a:xfrm>
            <a:off x="14335" y="5412527"/>
            <a:ext cx="5086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🟠Laryssa Kelvin🔵Bruno Alves 🔴Christian Willian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C588379-F296-B6E2-67BE-34F53E34C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674" y="2608912"/>
            <a:ext cx="6495093" cy="190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75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FF18-D82F-9028-4927-869560DF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6214B82-B03D-9AFD-3EDF-FAD779AFA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35" y="0"/>
            <a:ext cx="12192000" cy="6826112"/>
          </a:xfrm>
          <a:prstGeom prst="rect">
            <a:avLst/>
          </a:prstGeom>
        </p:spPr>
      </p:pic>
      <p:sp>
        <p:nvSpPr>
          <p:cNvPr id="3" name="Google Shape;185;p30">
            <a:extLst>
              <a:ext uri="{FF2B5EF4-FFF2-40B4-BE49-F238E27FC236}">
                <a16:creationId xmlns:a16="http://schemas.microsoft.com/office/drawing/2014/main" id="{2773075F-F8C9-E03C-438A-BAD73C5AA59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9057" y="164757"/>
            <a:ext cx="6979640" cy="590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spc="600" dirty="0">
                <a:solidFill>
                  <a:srgbClr val="005DAA"/>
                </a:solidFill>
                <a:latin typeface="Montserrat" panose="00000500000000000000" pitchFamily="50" charset="0"/>
                <a:ea typeface="+mn-ea"/>
                <a:cs typeface="+mn-cs"/>
              </a:rPr>
              <a:t>Cenário 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34443F-E9F9-6832-F59D-47C2A1805593}"/>
              </a:ext>
            </a:extLst>
          </p:cNvPr>
          <p:cNvSpPr txBox="1"/>
          <p:nvPr/>
        </p:nvSpPr>
        <p:spPr>
          <a:xfrm>
            <a:off x="14335" y="919162"/>
            <a:ext cx="9262830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dirty="0"/>
              <a:t>Com a retirada de um promotor, as lojas foram redistribuídas com base na região geográfica e na quantidade atual de clientes por roteiro. Com isso, o promotor passaria a ser responsável por 10 lojas.</a:t>
            </a:r>
            <a:endParaRPr lang="pt-BR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6AF913-3E62-B2B6-0B9E-D72D11D18849}"/>
              </a:ext>
            </a:extLst>
          </p:cNvPr>
          <p:cNvSpPr txBox="1"/>
          <p:nvPr/>
        </p:nvSpPr>
        <p:spPr>
          <a:xfrm>
            <a:off x="14335" y="5210864"/>
            <a:ext cx="5086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🟣Natalia Oliveira 🟢Henrique Ponce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ADE1946-1414-9392-1D69-095824457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0" y="2130351"/>
            <a:ext cx="4461705" cy="2707174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E222903-F22E-96D1-7D38-0BD6FBC2B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872" y="2826979"/>
            <a:ext cx="7472377" cy="150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1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3D38-847E-6BCB-577B-D5A85806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5D52F52-A408-E54C-5675-2F91649AA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35" y="0"/>
            <a:ext cx="12192000" cy="6826112"/>
          </a:xfrm>
          <a:prstGeom prst="rect">
            <a:avLst/>
          </a:prstGeom>
        </p:spPr>
      </p:pic>
      <p:sp>
        <p:nvSpPr>
          <p:cNvPr id="3" name="Google Shape;185;p30">
            <a:extLst>
              <a:ext uri="{FF2B5EF4-FFF2-40B4-BE49-F238E27FC236}">
                <a16:creationId xmlns:a16="http://schemas.microsoft.com/office/drawing/2014/main" id="{A08CC82B-EB45-251E-3AC9-6A184CE725C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9057" y="164757"/>
            <a:ext cx="6979640" cy="590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spc="600" dirty="0">
                <a:solidFill>
                  <a:srgbClr val="005DAA"/>
                </a:solidFill>
                <a:latin typeface="Montserrat" panose="00000500000000000000" pitchFamily="50" charset="0"/>
                <a:ea typeface="+mn-ea"/>
                <a:cs typeface="+mn-cs"/>
              </a:rPr>
              <a:t>Cenário 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713924-2775-0444-BA30-2BBB09510A5D}"/>
              </a:ext>
            </a:extLst>
          </p:cNvPr>
          <p:cNvSpPr txBox="1"/>
          <p:nvPr/>
        </p:nvSpPr>
        <p:spPr>
          <a:xfrm>
            <a:off x="14335" y="919162"/>
            <a:ext cx="9262830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dirty="0"/>
              <a:t>Com a retirada de um promotor, as lojas foram redistribuídas com base na região geográfica e na quantidade atual de clientes por roteiro. Com isso, o promotor passaria a ser responsável por 10 lojas.</a:t>
            </a:r>
            <a:endParaRPr lang="pt-BR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533A9B-7721-4F46-13DA-83A1AA1BB61A}"/>
              </a:ext>
            </a:extLst>
          </p:cNvPr>
          <p:cNvSpPr txBox="1"/>
          <p:nvPr/>
        </p:nvSpPr>
        <p:spPr>
          <a:xfrm>
            <a:off x="14335" y="5210864"/>
            <a:ext cx="5086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🟣Natalia Oliveira 🟢</a:t>
            </a:r>
            <a:r>
              <a:rPr lang="pt-BR" dirty="0" err="1"/>
              <a:t>Henrque</a:t>
            </a:r>
            <a:r>
              <a:rPr lang="pt-BR" dirty="0"/>
              <a:t> Ponce</a:t>
            </a:r>
          </a:p>
        </p:txBody>
      </p:sp>
    </p:spTree>
    <p:extLst>
      <p:ext uri="{BB962C8B-B14F-4D97-AF65-F5344CB8AC3E}">
        <p14:creationId xmlns:p14="http://schemas.microsoft.com/office/powerpoint/2010/main" val="15646379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398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</vt:lpstr>
      <vt:lpstr>Tema do Office</vt:lpstr>
      <vt:lpstr>Estudo roteiro AtivMob  Auto Serviço  </vt:lpstr>
      <vt:lpstr>Observações</vt:lpstr>
      <vt:lpstr>Observações</vt:lpstr>
      <vt:lpstr>Cenário 1- Retirando 1  promotor ou refazendo o roteiro por completo</vt:lpstr>
      <vt:lpstr>Cenário 2</vt:lpstr>
      <vt:lpstr>Cenário 2</vt:lpstr>
      <vt:lpstr>Cenário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Simões</dc:creator>
  <cp:lastModifiedBy>Nicolas Simões</cp:lastModifiedBy>
  <cp:revision>8</cp:revision>
  <dcterms:created xsi:type="dcterms:W3CDTF">2025-05-21T14:24:47Z</dcterms:created>
  <dcterms:modified xsi:type="dcterms:W3CDTF">2025-05-22T15:33:22Z</dcterms:modified>
</cp:coreProperties>
</file>